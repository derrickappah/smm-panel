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HUBTEL PAYMENT INTEGRATION</a:t>
            </a:r>
          </a:p>
          <a:p>
            <a:pPr>
              <a:spcBef>
                <a:spcPts val="1000"/>
              </a:spcBef>
              <a:defRPr sz="3600" b="1">
                <a:solidFill>
                  <a:srgbClr val="F8FAFC"/>
                </a:solidFill>
              </a:defRPr>
            </a:pPr>
            <a:r>
              <a:t>System Architecture &amp; API Interface Flow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Production UAT Submission &amp; End-to-End Verification Document</a:t>
            </a:r>
          </a:p>
          <a:p>
            <a:pPr>
              <a:spcBef>
                <a:spcPts val="2400"/>
              </a:spcBef>
              <a:defRPr sz="1300">
                <a:solidFill>
                  <a:srgbClr val="22C55E"/>
                </a:solidFill>
              </a:defRPr>
            </a:pPr>
            <a:r>
              <a:t>Merchant App: BoostUp Ghana (boostupgh.com)  |  APIs: Online Checkout &amp; RMSC Status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HUBTEL UAT INTEGRATION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Integration Topology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1. User Client (Browser)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React 18 SPA at boostupgh.com</a:t>
            </a:r>
            <a:br/>
            <a:br/>
            <a:r>
              <a:t>• User selects deposit amount</a:t>
            </a:r>
            <a:br/>
            <a:r>
              <a:t>• Initiates payment request</a:t>
            </a:r>
            <a:br/>
            <a:r>
              <a:t>• Redirects to Hubtel Checkout</a:t>
            </a:r>
            <a:br/>
            <a:r>
              <a:t>• Displays real-time confirmation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2. Backend Application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Next.js / Node.js Serverless API</a:t>
            </a:r>
            <a:br/>
            <a:br/>
            <a:r>
              <a:t>• Generates secure ClientReference</a:t>
            </a:r>
            <a:br/>
            <a:r>
              <a:t>• Authenticates with Hubtel PayProxy</a:t>
            </a:r>
            <a:br/>
            <a:r>
              <a:t>• Asynchronous webhook receiver</a:t>
            </a:r>
            <a:br/>
            <a:r>
              <a:t>• Re-verifies every transaction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3. Hubtel Gateway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Hubtel Online Checkout &amp; RMSC</a:t>
            </a:r>
            <a:br/>
            <a:br/>
            <a:r>
              <a:t>• Hosted payment modal</a:t>
            </a:r>
            <a:br/>
            <a:r>
              <a:t>• MTN, Telecel, AT &amp; Cards</a:t>
            </a:r>
            <a:br/>
            <a:r>
              <a:t>• Dispatches instant webhooks</a:t>
            </a:r>
            <a:br/>
            <a:r>
              <a:t>• Authoritative RMSC Status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4. Storage &amp; Security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Supabase DB &amp; Redis Locks</a:t>
            </a:r>
            <a:br/>
            <a:br/>
            <a:r>
              <a:t>• Atomic double-credit prevention</a:t>
            </a:r>
            <a:br/>
            <a:r>
              <a:t>• Distributed Redis lock (30s)</a:t>
            </a:r>
            <a:br/>
            <a:r>
              <a:t>• Idempotent v2 stored procedure</a:t>
            </a:r>
            <a:br/>
            <a:r>
              <a:t>• Comprehensive audit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HUBTEL UAT INTEGRATION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Deposit Flow (Step-by-Step)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Step 1: Deposit Request  (User -&gt; BoostUp App)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User enters amount (e.g. ₵50) on BoostUp Deposit page and clicks 'Pay with Hubtel'.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3035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Step 2: Server Initiation  (BoostUp API -&gt; Hubtel PayProxy)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Backend generates unique ClientReference (32-char UUID) and calls Hubtel /items/initiate with Basic Auth.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53035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Step 3: Hubtel Redirect  (Hubtel -&gt; User Browser)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Hubtel responds with 0000 code and checkoutUrl. User browser redirects to Hubtel secure checkout modal.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154680"/>
            <a:ext cx="53035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29184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Step 4: Customer Payment  (Customer -&gt; Telco / Bank)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Customer selects Mobile Money (MTN / Telecel / AT) or Card and authorizes prompt on mobile phone.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53035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Step 5: Webhook &amp; Verification  (Hubtel Webhook -&gt; BoostUp API)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Hubtel dispatches callback to /api/payments/hubtel/callback. Our server immediately re-queries Hubtel RMSC.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663440"/>
            <a:ext cx="53035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80060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Step 6: Wallet Balance Credited  (PostgreSQL Atomic Function)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Database atomically updates transaction status to 'Paid' and increments user wallet balance.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HUBTEL UAT INTEGRATION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Two-Tier Security &amp; Server-to-Server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Tier 1: Webhook Ingestion (/callback)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Listens for POST callbacks from Hubtel</a:t>
            </a:r>
            <a:br/>
            <a:r>
              <a:t>• Extracts ClientReference, TransactionId, and Amount</a:t>
            </a:r>
            <a:br/>
            <a:r>
              <a:t>• Checks transaction status idempotency in DB</a:t>
            </a:r>
            <a:br/>
            <a:r>
              <a:t>• Acquires distributed Redis Lock (30s) to prevent concurrent execution races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Tier 2: Server-to-Server RMSC Verification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MANDATORY: Never trust incoming callback body alone</a:t>
            </a:r>
            <a:br/>
            <a:r>
              <a:t>• Server makes an HTTPS GET call to official Hubtel RMSC API:</a:t>
            </a:r>
            <a:br/>
            <a:r>
              <a:t>  https://rmsc.hubtel.com/v1/merchantaccount/merchants/{posId}/transactions/status</a:t>
            </a:r>
            <a:br/>
            <a:r>
              <a:t>• Authenticates with Merchant Basic Auth credentials</a:t>
            </a:r>
            <a:br/>
            <a:r>
              <a:t>• Authoritatively verifies TransactionStatus == 'Success' | 'Paid'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Tier 3: Strict Amount &amp; Fraud Defense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Verifies AmountAfterFees matches requested deposit amount (with 1% fee tolerance)</a:t>
            </a:r>
            <a:br/>
            <a:r>
              <a:t>• Checks user ban / suspension status in banned_users table</a:t>
            </a:r>
            <a:br/>
            <a:r>
              <a:t>• Invokes PostgreSQL RPC approve_deposit_transaction_universal_v2</a:t>
            </a:r>
            <a:br/>
            <a:r>
              <a:t>• Logs security events and user activity audit trail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HUBTEL UAT INTEGRATION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Status Check / Polling &amp; Fallback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Authoritative Status Check Endpoint (/api/payments/hubtel/status-check)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22C55E"/>
                </a:solidFill>
              </a:rPr>
              <a:t>1. User Return Redirection: </a:t>
            </a:r>
            <a:r>
              <a:rPr sz="1300">
                <a:solidFill>
                  <a:srgbClr val="F8FAFC"/>
                </a:solidFill>
              </a:rPr>
              <a:t>When user returns to /payment/success?clientReference=..., the frontend immediately requests /api/payments/hubtel/status-check.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22C55E"/>
                </a:solidFill>
              </a:rPr>
              <a:t>2. Missed / Delayed Webhooks: </a:t>
            </a:r>
            <a:r>
              <a:rPr sz="1300">
                <a:solidFill>
                  <a:srgbClr val="F8FAFC"/>
                </a:solidFill>
              </a:rPr>
              <a:t>If network latency or telco delay stalls the webhook callback, the status-check endpoint acts as an active fallback resolver.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22C55E"/>
                </a:solidFill>
              </a:rPr>
              <a:t>3. Direct Hubtel RMSC Verification: </a:t>
            </a:r>
            <a:r>
              <a:rPr sz="1300">
                <a:solidFill>
                  <a:srgbClr val="F8FAFC"/>
                </a:solidFill>
              </a:rPr>
              <a:t>Contacts Hubtel RMSC Status endpoint using merchant credentials. If payment is confirmed, credits wallet immediately.</a:t>
            </a:r>
          </a:p>
          <a:p>
            <a:pPr>
              <a:spcBef>
                <a:spcPts val="1400"/>
              </a:spcBef>
            </a:pPr>
            <a:r>
              <a:rPr sz="1400" b="1">
                <a:solidFill>
                  <a:srgbClr val="22C55E"/>
                </a:solidFill>
              </a:rPr>
              <a:t>4. Re-entrancy &amp; Race Protection: </a:t>
            </a:r>
            <a:r>
              <a:rPr sz="1300">
                <a:solidFill>
                  <a:srgbClr val="F8FAFC"/>
                </a:solidFill>
              </a:rPr>
              <a:t>Protected by the same Redis lock and PostgreSQL atomic transaction logic so duplicate requests can never result in double crediting.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HUBTEL UAT INTEGRATION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Production Endpoints &amp; Technical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32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A5E9"/>
                </a:solidFill>
              </a:rPr>
              <a:t>Main Application URL: </a:t>
            </a:r>
            <a:r>
              <a:rPr sz="1300">
                <a:solidFill>
                  <a:srgbClr val="F8FAFC"/>
                </a:solidFill>
              </a:rPr>
              <a:t>https://boostupgh.com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69848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10332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A5E9"/>
                </a:solidFill>
              </a:rPr>
              <a:t>Deposit Initiation URL: </a:t>
            </a:r>
            <a:r>
              <a:rPr sz="1300">
                <a:solidFill>
                  <a:srgbClr val="F8FAFC"/>
                </a:solidFill>
              </a:rPr>
              <a:t>https://boostupgh.com/dashboard/deposit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69848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99232"/>
            <a:ext cx="10332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A5E9"/>
                </a:solidFill>
              </a:rPr>
              <a:t>Hubtel Initiation API: </a:t>
            </a:r>
            <a:r>
              <a:rPr sz="1300">
                <a:solidFill>
                  <a:srgbClr val="F8FAFC"/>
                </a:solidFill>
              </a:rPr>
              <a:t>https://payproxyapi.hubtel.com/items/initiate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59"/>
            <a:ext cx="1069848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1"/>
            <a:ext cx="10332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A5E9"/>
                </a:solidFill>
              </a:rPr>
              <a:t>Merchant Callback URL (Webhook): </a:t>
            </a:r>
            <a:r>
              <a:rPr sz="1300">
                <a:solidFill>
                  <a:srgbClr val="F8FAFC"/>
                </a:solidFill>
              </a:rPr>
              <a:t>https://boostupgh.com/api/payments/hubtel/callback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69848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10332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A5E9"/>
                </a:solidFill>
              </a:rPr>
              <a:t>Return URL (Customer Redirect): </a:t>
            </a:r>
            <a:r>
              <a:rPr sz="1300">
                <a:solidFill>
                  <a:srgbClr val="F8FAFC"/>
                </a:solidFill>
              </a:rPr>
              <a:t>https://boostupgh.com/payment/success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1069848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19472"/>
            <a:ext cx="10332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A5E9"/>
                </a:solidFill>
              </a:rPr>
              <a:t>Cancellation URL: </a:t>
            </a:r>
            <a:r>
              <a:rPr sz="1300">
                <a:solidFill>
                  <a:srgbClr val="F8FAFC"/>
                </a:solidFill>
              </a:rPr>
              <a:t>https://boostupgh.com/payment/cancelled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399"/>
            <a:ext cx="1069848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59551"/>
            <a:ext cx="103327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A5E9"/>
                </a:solidFill>
              </a:rPr>
              <a:t>Hubtel RMSC Status API: </a:t>
            </a:r>
            <a:r>
              <a:rPr sz="1300">
                <a:solidFill>
                  <a:srgbClr val="F8FAFC"/>
                </a:solidFill>
              </a:rPr>
              <a:t>https://rmsc.hubtel.com/v1/merchantaccount/merchants/{posId}/transactions/status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